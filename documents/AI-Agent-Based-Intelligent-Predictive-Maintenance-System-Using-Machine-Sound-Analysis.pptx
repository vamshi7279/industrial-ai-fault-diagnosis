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Arimo" panose="020B0604020202020204" charset="0"/>
      <p:regular r:id="rId9"/>
    </p:embeddedFont>
    <p:embeddedFont>
      <p:font typeface="Arimo Bold" panose="020B0604020202020204" charset="0"/>
      <p:regular r:id="rId10"/>
    </p:embeddedFont>
    <p:embeddedFont>
      <p:font typeface="Neue Haas Grotesk Text Pro" panose="020B0504020202020204" pitchFamily="34" charset="0"/>
      <p:regular r:id="rId11"/>
    </p:embeddedFont>
    <p:embeddedFont>
      <p:font typeface="Outfit Extra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75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5223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7856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6097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18933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68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8454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0665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3365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4853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6038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870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15307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43779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23982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9764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52703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73293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8512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99534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679066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00261514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15371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9456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80050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27117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81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8883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15080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289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37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504"/>
            <a:ext cx="10868745" cy="2768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AI-Agent Based Intelligent Predictive Maintenance System Using Machine Sound 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61475" y="3957340"/>
            <a:ext cx="10868745" cy="550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9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Batch 11 | Malla Reddy University, School of Engineering</a:t>
            </a:r>
            <a:endParaRPr lang="en-US" sz="1150" dirty="0"/>
          </a:p>
          <a:p>
            <a:pPr marL="0" indent="0" algn="ctr">
              <a:lnSpc>
                <a:spcPct val="119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Guide: Vinay Simha Reddy 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4680843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Team Members: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1475" y="5130800"/>
            <a:ext cx="10868745" cy="71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Gonuguntla Vamshi Krishna</a:t>
            </a:r>
            <a:endParaRPr lang="en-US" sz="115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Gorre Shashikanth</a:t>
            </a:r>
            <a:endParaRPr lang="en-US" sz="115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Gunturu Murri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19936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76909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Problem Statement &amp; Motivation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3129062"/>
            <a:ext cx="10868745" cy="39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Challenge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61475" y="3729534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Traditional predictive-maintenance systems detect anomalies or predict failures, but rarely autonomously decide what maintenance action to take.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1475" y="4166493"/>
            <a:ext cx="10868745" cy="39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Gap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61475" y="4766965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Unplanned downtime, reactive repairs, and missed early degradation signs continue to reduce operational efficiency across industrial environments.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1475" y="5203924"/>
            <a:ext cx="10868745" cy="39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Our Solution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61475" y="5804396"/>
            <a:ext cx="1086874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AI-agent-based system that analyzes machine sound, detects anomalies, predicts Remaining Useful Life (RUL), and autonomously recommends maintenance actions.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54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Existing Systems &amp; Limitations vs. Our Approach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31167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Existing Systems &amp; Limitations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61475" y="2067620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FAFAFA">
              <a:alpha val="95000"/>
            </a:srgbClr>
          </a:solidFill>
          <a:ln w="25399">
            <a:solidFill>
              <a:srgbClr val="BDB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881" y="228203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Scheduled Maintenance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5881" y="2690713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Inefficient by design — leads to systematic over-maintenance or under-maintenance, wasting resources either way.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067620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FAFAFA">
              <a:alpha val="95000"/>
            </a:srgbClr>
          </a:solidFill>
          <a:ln w="25399">
            <a:solidFill>
              <a:srgbClr val="BDB8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1766" y="228203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Reactive Repairs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61766" y="2690713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 downtime and emergency costs; problems are addressed only after failure has already occurred.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067620"/>
            <a:ext cx="3496877" cy="2047180"/>
          </a:xfrm>
          <a:prstGeom prst="roundRect">
            <a:avLst>
              <a:gd name="adj" fmla="val 3878"/>
            </a:avLst>
          </a:prstGeom>
          <a:solidFill>
            <a:srgbClr val="FAFAFA">
              <a:alpha val="95000"/>
            </a:srgbClr>
          </a:solidFill>
          <a:ln w="25399">
            <a:solidFill>
              <a:srgbClr val="BDB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650" y="228203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Anomaly Detection Only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47650" y="2690713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Identifies faults but lacks autonomous decision-making and maintenance scheduling capability.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439826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Our Approach</a:t>
            </a:r>
            <a:endParaRPr lang="en-US" sz="2950" dirty="0"/>
          </a:p>
        </p:txBody>
      </p:sp>
      <p:sp>
        <p:nvSpPr>
          <p:cNvPr id="14" name="Shape 12"/>
          <p:cNvSpPr/>
          <p:nvPr/>
        </p:nvSpPr>
        <p:spPr>
          <a:xfrm>
            <a:off x="661475" y="515421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7D2F9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421908"/>
            <a:ext cx="236234" cy="1890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75723" y="539045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Integrates acoustic analysis, fault classification, RUL prediction, and agentic AI for true end-to-end autonomous maintenance.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852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Literature Survey: Research Landscape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081683"/>
            <a:ext cx="10868745" cy="7088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8633" y="1325364"/>
            <a:ext cx="1772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0459" y="1212453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Industrial Acoustic Anomaly Detection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220459" y="1441252"/>
            <a:ext cx="101789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Baseline signal-processing methods for detecting machine faults from audio.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64320"/>
            <a:ext cx="10868745" cy="7088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633" y="2108002"/>
            <a:ext cx="1772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220459" y="1995091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Deep Learning — CNN/Spectrogram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220459" y="2223889"/>
            <a:ext cx="101789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Convolutional networks applied to spectrogram representations for improved detection accuracy.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46958"/>
            <a:ext cx="10868745" cy="7088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8633" y="2890639"/>
            <a:ext cx="1772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220459" y="2777728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Acoustic Predictive Maintenance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220459" y="3006527"/>
            <a:ext cx="101789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Real-world deployment of sound-based maintenance in industrial settings.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29595"/>
            <a:ext cx="10868745" cy="7088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8633" y="3673277"/>
            <a:ext cx="1772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220459" y="3560366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RUL Prediction via LSTM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1220459" y="3789164"/>
            <a:ext cx="101789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Degradation modeling using recurrent networks to forecast remaining equipment life.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12233"/>
            <a:ext cx="10868745" cy="70881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8633" y="4455914"/>
            <a:ext cx="1772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5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1220459" y="4343003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AI/LLM Agents for Maintenance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1220459" y="4571802"/>
            <a:ext cx="101789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Decision-making frameworks using large language model agents in industrial contexts.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94870"/>
            <a:ext cx="10868745" cy="70881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18633" y="5238552"/>
            <a:ext cx="1772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6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1220459" y="5125641"/>
            <a:ext cx="1017899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Multi-Agent Orchestration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1220459" y="5354439"/>
            <a:ext cx="1017899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Autonomous multi-agent systems for maintenance scheduling and coordination.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661475" y="5786735"/>
            <a:ext cx="10868745" cy="506313"/>
          </a:xfrm>
          <a:prstGeom prst="roundRect">
            <a:avLst>
              <a:gd name="adj" fmla="val 9800"/>
            </a:avLst>
          </a:prstGeom>
          <a:solidFill>
            <a:srgbClr val="D7D2F9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42" y="5894586"/>
            <a:ext cx="147634" cy="11807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45243" y="5890022"/>
            <a:ext cx="1036690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Key Finding:</a:t>
            </a:r>
            <a:r>
              <a:rPr lang="en-US" sz="9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Most works address anomaly detection </a:t>
            </a:r>
            <a:r>
              <a:rPr lang="en-US" sz="900" i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</a:t>
            </a:r>
            <a:r>
              <a:rPr lang="en-US" sz="9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prediction in isolation. Our contribution uniquely integrates acoustic anomaly detection, fault classification, RUL prediction, and autonomous AI-agent decision-making into one cohesive system.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264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Proposed System Architecture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92795"/>
            <a:ext cx="10868745" cy="4974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22865" y="1662294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Agent &amp; Interface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622865" y="2048322"/>
            <a:ext cx="2650038" cy="602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agent prioritizes maintenance; dashboard and alerts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50578" y="3397752"/>
            <a:ext cx="2404269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ML Processing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8521" y="3783780"/>
            <a:ext cx="2436325" cy="401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7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CNN for anomalies; LSTM for RUL prediction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22865" y="4241938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Core Audio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22865" y="4627966"/>
            <a:ext cx="2650038" cy="401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Mic input, preprocessing, MFCCs, spectrograms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56682" y="6162873"/>
            <a:ext cx="1147833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</a:t>
            </a:r>
            <a:r>
              <a:rPr lang="en-US" sz="950" b="1" dirty="0">
                <a:solidFill>
                  <a:srgbClr val="5E4CE6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Agent Layer</a:t>
            </a: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is where the system transitions from ML inference to autonomous decision-making — the defining characteristic of this agentic AI architecture.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030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Dataset, Technologies &amp; Implementation Plan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527533" y="1411188"/>
            <a:ext cx="4909221" cy="4891782"/>
          </a:xfrm>
          <a:prstGeom prst="roundRect">
            <a:avLst>
              <a:gd name="adj" fmla="val 2739"/>
            </a:avLst>
          </a:prstGeom>
          <a:solidFill>
            <a:srgbClr val="5E4CE6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3563" y="1594346"/>
            <a:ext cx="453716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Dataset &amp;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563" y="2068215"/>
            <a:ext cx="4537160" cy="2231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MIMII Dataset</a:t>
            </a:r>
            <a:r>
              <a:rPr lang="en-US" sz="14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Malfunctioning Industrial Machine Investigation and Inspection. Covers fans, pumps, valves, and slide rails with labeled normal/abnormal audio recordings.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Technologies:</a:t>
            </a:r>
            <a:r>
              <a:rPr lang="en-US" sz="14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Python · TensorFlow/PyTorch · MFCC &amp; Mel-spectrogram · CNN · LSTM · LLM-based Agent Framework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762977" y="1594346"/>
            <a:ext cx="57735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Phased Implementation Roadmap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37074" y="2091035"/>
            <a:ext cx="25399" cy="4005957"/>
          </a:xfrm>
          <a:prstGeom prst="roundRect">
            <a:avLst>
              <a:gd name="adj" fmla="val 50001"/>
            </a:avLst>
          </a:prstGeom>
          <a:solidFill>
            <a:srgbClr val="BDB8DF"/>
          </a:solidFill>
          <a:ln/>
        </p:spPr>
      </p:sp>
      <p:sp>
        <p:nvSpPr>
          <p:cNvPr id="8" name="Shape 6"/>
          <p:cNvSpPr/>
          <p:nvPr/>
        </p:nvSpPr>
        <p:spPr>
          <a:xfrm>
            <a:off x="7907685" y="2287588"/>
            <a:ext cx="558191" cy="2540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</p:sp>
      <p:sp>
        <p:nvSpPr>
          <p:cNvPr id="9" name="Shape 7"/>
          <p:cNvSpPr/>
          <p:nvPr/>
        </p:nvSpPr>
        <p:spPr>
          <a:xfrm>
            <a:off x="8440477" y="2091035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10176" y="2125861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5762977" y="2154932"/>
            <a:ext cx="19565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Phase 1 — Current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2977" y="2628801"/>
            <a:ext cx="195654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Audio preprocessing, MFCC/spectrogram extraction, and CNN-based anomaly detection model training.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833671" y="3398143"/>
            <a:ext cx="558191" cy="25400"/>
          </a:xfrm>
          <a:prstGeom prst="roundRect">
            <a:avLst>
              <a:gd name="adj" fmla="val 49999"/>
            </a:avLst>
          </a:prstGeom>
          <a:solidFill>
            <a:srgbClr val="BDB8DF"/>
          </a:solidFill>
          <a:ln/>
        </p:spPr>
      </p:sp>
      <p:sp>
        <p:nvSpPr>
          <p:cNvPr id="14" name="Shape 12"/>
          <p:cNvSpPr/>
          <p:nvPr/>
        </p:nvSpPr>
        <p:spPr>
          <a:xfrm>
            <a:off x="8440477" y="3201591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10176" y="3236416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9580025" y="3265488"/>
            <a:ext cx="1956545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Phase 2 — Upcoming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80025" y="4030067"/>
            <a:ext cx="1956545" cy="206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LSTM-based RUL prediction, AI agent integration, and maintenance dashboard development with Telegram alert system.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2</TotalTime>
  <Words>489</Words>
  <Application>Microsoft Office PowerPoint</Application>
  <PresentationFormat>Widescreen</PresentationFormat>
  <Paragraphs>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Neue Haas Grotesk Text Pro</vt:lpstr>
      <vt:lpstr>Arimo</vt:lpstr>
      <vt:lpstr>Outfit ExtraBold</vt:lpstr>
      <vt:lpstr>Arimo Bold</vt:lpstr>
      <vt:lpstr>Arial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Vamshi Krishna</cp:lastModifiedBy>
  <cp:revision>2</cp:revision>
  <dcterms:created xsi:type="dcterms:W3CDTF">2026-09-02T06:45:31Z</dcterms:created>
  <dcterms:modified xsi:type="dcterms:W3CDTF">2026-09-02T06:48:31Z</dcterms:modified>
</cp:coreProperties>
</file>